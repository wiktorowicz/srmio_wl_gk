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PT Sans Narrow"/>
      <p:regular r:id="rId13"/>
      <p:bold r:id="rId14"/>
    </p:embeddedFont>
    <p:embeddedFont>
      <p:font typeface="Open Sans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PTSansNarrow-regular.fntdata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OpenSans-regular.fntdata"/><Relationship Id="rId14" Type="http://schemas.openxmlformats.org/officeDocument/2006/relationships/font" Target="fonts/PTSansNarrow-bold.fntdata"/><Relationship Id="rId17" Type="http://schemas.openxmlformats.org/officeDocument/2006/relationships/font" Target="fonts/OpenSans-italic.fntdata"/><Relationship Id="rId16" Type="http://schemas.openxmlformats.org/officeDocument/2006/relationships/font" Target="fonts/OpenSans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OpenSans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7d312d9fd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7d312d9fd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7d312d9fd_0_15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b7d312d9fd_0_15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b7d312d9fd_0_2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b7d312d9fd_0_2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b7d312d9fd_0_2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b7d312d9fd_0_2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b7d312d9fd_0_2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b7d312d9fd_0_2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7d312d9fd_0_21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b7d312d9fd_0_21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7007735" y="3176888"/>
            <a:ext cx="562200" cy="0"/>
          </a:xfrm>
          <a:prstGeom prst="straightConnector1">
            <a:avLst/>
          </a:prstGeom>
          <a:noFill/>
          <a:ln cap="flat" cmpd="sng" w="762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" name="Google Shape;11;p2"/>
          <p:cNvCxnSpPr/>
          <p:nvPr/>
        </p:nvCxnSpPr>
        <p:spPr>
          <a:xfrm>
            <a:off x="1575035" y="3158252"/>
            <a:ext cx="562200" cy="0"/>
          </a:xfrm>
          <a:prstGeom prst="straightConnector1">
            <a:avLst/>
          </a:prstGeom>
          <a:noFill/>
          <a:ln cap="flat" cmpd="sng" w="762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" name="Google Shape;12;p2"/>
          <p:cNvGrpSpPr/>
          <p:nvPr/>
        </p:nvGrpSpPr>
        <p:grpSpPr>
          <a:xfrm>
            <a:off x="1004144" y="1022025"/>
            <a:ext cx="7136668" cy="152400"/>
            <a:chOff x="1346429" y="1011300"/>
            <a:chExt cx="6452100" cy="152400"/>
          </a:xfrm>
        </p:grpSpPr>
        <p:cxnSp>
          <p:nvCxnSpPr>
            <p:cNvPr id="13" name="Google Shape;13;p2"/>
            <p:cNvCxnSpPr/>
            <p:nvPr/>
          </p:nvCxnSpPr>
          <p:spPr>
            <a:xfrm rot="10800000">
              <a:off x="1346429" y="1011300"/>
              <a:ext cx="6452100" cy="0"/>
            </a:xfrm>
            <a:prstGeom prst="straightConnector1">
              <a:avLst/>
            </a:prstGeom>
            <a:noFill/>
            <a:ln cap="flat" cmpd="sng" w="76200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" name="Google Shape;14;p2"/>
            <p:cNvCxnSpPr/>
            <p:nvPr/>
          </p:nvCxnSpPr>
          <p:spPr>
            <a:xfrm rot="10800000">
              <a:off x="1346429" y="1163700"/>
              <a:ext cx="64521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5" name="Google Shape;15;p2"/>
          <p:cNvGrpSpPr/>
          <p:nvPr/>
        </p:nvGrpSpPr>
        <p:grpSpPr>
          <a:xfrm>
            <a:off x="1004151" y="3969100"/>
            <a:ext cx="7136668" cy="152400"/>
            <a:chOff x="1346435" y="3969088"/>
            <a:chExt cx="6452100" cy="152400"/>
          </a:xfrm>
        </p:grpSpPr>
        <p:cxnSp>
          <p:nvCxnSpPr>
            <p:cNvPr id="16" name="Google Shape;16;p2"/>
            <p:cNvCxnSpPr/>
            <p:nvPr/>
          </p:nvCxnSpPr>
          <p:spPr>
            <a:xfrm>
              <a:off x="1346435" y="4121488"/>
              <a:ext cx="6452100" cy="0"/>
            </a:xfrm>
            <a:prstGeom prst="straightConnector1">
              <a:avLst/>
            </a:prstGeom>
            <a:noFill/>
            <a:ln cap="flat" cmpd="sng" w="76200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" name="Google Shape;17;p2"/>
            <p:cNvCxnSpPr/>
            <p:nvPr/>
          </p:nvCxnSpPr>
          <p:spPr>
            <a:xfrm>
              <a:off x="1346435" y="3969088"/>
              <a:ext cx="64521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8" name="Google Shape;18;p2"/>
          <p:cNvSpPr txBox="1"/>
          <p:nvPr>
            <p:ph type="ctrTitle"/>
          </p:nvPr>
        </p:nvSpPr>
        <p:spPr>
          <a:xfrm>
            <a:off x="1004150" y="1751764"/>
            <a:ext cx="7136700" cy="1022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9" name="Google Shape;19;p2"/>
          <p:cNvSpPr txBox="1"/>
          <p:nvPr>
            <p:ph idx="1" type="subTitle"/>
          </p:nvPr>
        </p:nvSpPr>
        <p:spPr>
          <a:xfrm>
            <a:off x="2137225" y="2850039"/>
            <a:ext cx="4870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-50" y="2571900"/>
            <a:ext cx="9144000" cy="25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 txBox="1"/>
          <p:nvPr>
            <p:ph type="title"/>
          </p:nvPr>
        </p:nvSpPr>
        <p:spPr>
          <a:xfrm>
            <a:off x="311700" y="814800"/>
            <a:ext cx="8571300" cy="94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4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311700" y="1266175"/>
            <a:ext cx="39999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32400" y="1266175"/>
            <a:ext cx="39999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6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490250" y="526350"/>
            <a:ext cx="56136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b="0" sz="5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4" name="Google Shape;4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" name="Google Shape;48;p9"/>
          <p:cNvSpPr txBox="1"/>
          <p:nvPr>
            <p:ph type="title"/>
          </p:nvPr>
        </p:nvSpPr>
        <p:spPr>
          <a:xfrm>
            <a:off x="265500" y="1039675"/>
            <a:ext cx="4045200" cy="167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265500" y="27268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0" name="Google Shape;50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>
            <p:ph idx="1" type="body"/>
          </p:nvPr>
        </p:nvSpPr>
        <p:spPr>
          <a:xfrm>
            <a:off x="311700" y="4230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2400">
                <a:latin typeface="PT Sans Narrow"/>
                <a:ea typeface="PT Sans Narrow"/>
                <a:cs typeface="PT Sans Narrow"/>
                <a:sym typeface="PT Sans Narrow"/>
              </a:defRPr>
            </a:lvl1pPr>
          </a:lstStyle>
          <a:p/>
        </p:txBody>
      </p:sp>
      <p:sp>
        <p:nvSpPr>
          <p:cNvPr id="54" name="Google Shape;5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11"/>
          <p:cNvSpPr txBox="1"/>
          <p:nvPr>
            <p:ph hasCustomPrompt="1" type="title"/>
          </p:nvPr>
        </p:nvSpPr>
        <p:spPr>
          <a:xfrm>
            <a:off x="311700" y="1304850"/>
            <a:ext cx="85206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311700" y="29956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9" name="Google Shape;5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trop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b="1" sz="3600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ctrTitle"/>
          </p:nvPr>
        </p:nvSpPr>
        <p:spPr>
          <a:xfrm>
            <a:off x="272088" y="1540050"/>
            <a:ext cx="8599800" cy="181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400"/>
              <a:t>Systemy rozpoznawania mowy i obrazu - Projekt</a:t>
            </a:r>
            <a:endParaRPr sz="24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000"/>
              <a:t> </a:t>
            </a:r>
            <a:endParaRPr sz="2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000"/>
              <a:t>System rozpoznawania logo i marek </a:t>
            </a:r>
            <a:endParaRPr sz="2000"/>
          </a:p>
        </p:txBody>
      </p:sp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0463" y="0"/>
            <a:ext cx="1403075" cy="94927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3"/>
          <p:cNvSpPr txBox="1"/>
          <p:nvPr/>
        </p:nvSpPr>
        <p:spPr>
          <a:xfrm>
            <a:off x="0" y="4246375"/>
            <a:ext cx="38706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Skład zespołu:</a:t>
            </a:r>
            <a:endParaRPr b="1" sz="10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Łukasz Wiktorowicz, 094136 </a:t>
            </a:r>
            <a:endParaRPr sz="10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Kacper Gawin, 094034</a:t>
            </a:r>
            <a:endParaRPr sz="10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69" name="Google Shape;69;p13"/>
          <p:cNvSpPr txBox="1"/>
          <p:nvPr/>
        </p:nvSpPr>
        <p:spPr>
          <a:xfrm>
            <a:off x="6144000" y="4171625"/>
            <a:ext cx="30000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Kierunek/specjalność: </a:t>
            </a:r>
            <a:r>
              <a:rPr lang="en" sz="1000"/>
              <a:t>Informatyka/Grafika komputerowa </a:t>
            </a:r>
            <a:endParaRPr sz="10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Studia:</a:t>
            </a:r>
            <a:r>
              <a:rPr lang="en" sz="1000"/>
              <a:t> stacjonarne </a:t>
            </a:r>
            <a:endParaRPr sz="10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Numer grupy:</a:t>
            </a:r>
            <a:r>
              <a:rPr lang="en" sz="1000"/>
              <a:t> 4ID13B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Jaki problem rozwiązuje projekt?</a:t>
            </a:r>
            <a:endParaRPr/>
          </a:p>
        </p:txBody>
      </p:sp>
      <p:sp>
        <p:nvSpPr>
          <p:cNvPr id="75" name="Google Shape;75;p14"/>
          <p:cNvSpPr txBox="1"/>
          <p:nvPr>
            <p:ph idx="1" type="body"/>
          </p:nvPr>
        </p:nvSpPr>
        <p:spPr>
          <a:xfrm>
            <a:off x="391625" y="1811125"/>
            <a:ext cx="3999900" cy="22128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W wielu sytuacjach istnieje potrzeba automatycznego rozpoznawania marek widocznych na zdjęciach lub nagraniach wideo. Ręczna analiza takich materiałów jest czasochłonna, kosztowna i podatna na błędy, szczególnie gdy liczba danych jest bardzo duża.</a:t>
            </a:r>
            <a:endParaRPr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/>
          <p:nvPr>
            <p:ph idx="2" type="body"/>
          </p:nvPr>
        </p:nvSpPr>
        <p:spPr>
          <a:xfrm>
            <a:off x="4832400" y="1266175"/>
            <a:ext cx="3999900" cy="33027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5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Przykładowe sytuacje:</a:t>
            </a:r>
            <a:endParaRPr b="1" sz="2050">
              <a:solidFill>
                <a:srgbClr val="EF6C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4322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881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analiza tysięcy zdjęć publikowanych w internecie i mediach społecznościowych</a:t>
            </a:r>
            <a:endParaRPr sz="1881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4322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881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monitoring materiałów reklamowych i promocyjnych</a:t>
            </a:r>
            <a:endParaRPr sz="1881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4322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881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nagrania z kamer monitoringu lub wydarzeń publicznych</a:t>
            </a:r>
            <a:endParaRPr sz="1881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5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Dlaczego to problem:</a:t>
            </a:r>
            <a:endParaRPr b="1" sz="2050">
              <a:solidFill>
                <a:srgbClr val="EF6C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4957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9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człowiek musi poświęcić dużo czasu na ręczne sprawdzanie</a:t>
            </a:r>
            <a:endParaRPr sz="19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4957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9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łatwo o pomyłki przy dużej liczbie danych</a:t>
            </a:r>
            <a:endParaRPr sz="19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4957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9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proces nie skaluje się przy rosnącej liczbie obrazów</a:t>
            </a:r>
            <a:endParaRPr sz="19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EF6C00"/>
                </a:solidFill>
              </a:rPr>
              <a:t>Dla kogo i po co jest to rozwiązanie? </a:t>
            </a:r>
            <a:endParaRPr sz="3200">
              <a:solidFill>
                <a:srgbClr val="EF6C00"/>
              </a:solidFill>
            </a:endParaRPr>
          </a:p>
        </p:txBody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311700" y="1266175"/>
            <a:ext cx="3999900" cy="33027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System rozpoznawania logotypów może być użyteczny dla różnych grup użytkowników, nie tylko osób technicznych.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9085" lvl="0" marL="45720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b="1" lang="en" sz="120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Firmy marketingowe i analityczne</a:t>
            </a:r>
            <a:b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– automatyczna analiza widoczności marek na zdjęciach i nagraniach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90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b="1" lang="en" sz="120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Media i agencje reklamowe</a:t>
            </a:r>
            <a:b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– monitoring materiałów promocyjnych i reklamowych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90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b="1" lang="en" sz="120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Firmy dbające o ochronę marek</a:t>
            </a:r>
            <a:b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– wykrywanie nieautoryzowanego użycia logotypów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908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b="1" lang="en" sz="120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Zwykli użytkownicy</a:t>
            </a:r>
            <a:b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– szybkie rozpoznanie restauracji na podstawie zdjęcia lub obrazu z kamery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83" name="Google Shape;83;p15"/>
          <p:cNvSpPr txBox="1"/>
          <p:nvPr>
            <p:ph idx="2" type="body"/>
          </p:nvPr>
        </p:nvSpPr>
        <p:spPr>
          <a:xfrm>
            <a:off x="4832400" y="1266175"/>
            <a:ext cx="3999900" cy="33027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5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Dlaczego to potrzebne:</a:t>
            </a:r>
            <a:endParaRPr b="1" sz="1350">
              <a:solidFill>
                <a:srgbClr val="EF6C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użytkownik nie musi znać logotypów ani marek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system działa automatycznie i szybko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eliminuje błędy wynikające z ręcznej analizy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może pracować na dużej liczbie danych</a:t>
            </a:r>
            <a:endParaRPr>
              <a:solidFill>
                <a:srgbClr val="21212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type="title"/>
          </p:nvPr>
        </p:nvSpPr>
        <p:spPr>
          <a:xfrm>
            <a:off x="311700" y="224275"/>
            <a:ext cx="8569800" cy="68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EF6C00"/>
                </a:solidFill>
              </a:rPr>
              <a:t>Zastosowane rozwiązanie</a:t>
            </a:r>
            <a:endParaRPr sz="3200">
              <a:solidFill>
                <a:srgbClr val="EF6C00"/>
              </a:solidFill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6"/>
          <p:cNvSpPr txBox="1"/>
          <p:nvPr>
            <p:ph idx="1" type="body"/>
          </p:nvPr>
        </p:nvSpPr>
        <p:spPr>
          <a:xfrm>
            <a:off x="311700" y="2391475"/>
            <a:ext cx="3999900" cy="21774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5556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5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Jak działa system:</a:t>
            </a:r>
            <a:endParaRPr b="1" sz="1350">
              <a:solidFill>
                <a:srgbClr val="EF6C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60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użytkownik wczytuje obraz lub korzysta z kamery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obraz jest automatycznie przetwarzany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system rozpoznaje logotyp i wskazuje markę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wyświetlany jest najbardziej prawdopodobny wynik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6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6"/>
          <p:cNvSpPr txBox="1"/>
          <p:nvPr>
            <p:ph idx="2" type="body"/>
          </p:nvPr>
        </p:nvSpPr>
        <p:spPr>
          <a:xfrm>
            <a:off x="4832400" y="2391475"/>
            <a:ext cx="3999900" cy="21774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5556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5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Zastosowane podejście:</a:t>
            </a:r>
            <a:endParaRPr b="1" sz="1350">
              <a:solidFill>
                <a:srgbClr val="EF6C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60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wykorzystano konwolucyjną sieć neuronową CNN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model był trenowany na zbiorze obrazów logotypów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6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309300" y="1077125"/>
            <a:ext cx="8525400" cy="16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 ramach projektu zaprojektowano i zaimplementowano system automatycznego rozpoznawania logotypów marek restauracyjnych na podstawie obrazów. System wykorzystuje metody uczenia maszynowego do analizy obrazu i klasyfikacji widocznych logotypów.</a:t>
            </a:r>
            <a:endParaRPr/>
          </a:p>
          <a:p>
            <a:pPr indent="0" lvl="0" marL="0" rtl="0" algn="l"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highlight>
                <a:srgbClr val="212121"/>
              </a:highlight>
            </a:endParaRPr>
          </a:p>
          <a:p>
            <a:pPr indent="0" lvl="0" marL="0" rtl="0" algn="l">
              <a:lnSpc>
                <a:spcPct val="14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highlight>
                <a:srgbClr val="212121"/>
              </a:highlight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7"/>
          <p:cNvSpPr txBox="1"/>
          <p:nvPr>
            <p:ph type="title"/>
          </p:nvPr>
        </p:nvSpPr>
        <p:spPr>
          <a:xfrm>
            <a:off x="266850" y="452500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550">
                <a:solidFill>
                  <a:srgbClr val="EF6C00"/>
                </a:solidFill>
              </a:rPr>
              <a:t>Wyniki i skuteczność systemu</a:t>
            </a:r>
            <a:endParaRPr sz="3550">
              <a:solidFill>
                <a:srgbClr val="EF6C00"/>
              </a:solidFill>
            </a:endParaRPr>
          </a:p>
          <a:p>
            <a:pPr indent="0" lvl="0" marL="0" rtl="0" algn="l">
              <a:lnSpc>
                <a:spcPct val="140000"/>
              </a:lnSpc>
              <a:spcBef>
                <a:spcPts val="300"/>
              </a:spcBef>
              <a:spcAft>
                <a:spcPts val="300"/>
              </a:spcAft>
              <a:buNone/>
            </a:pPr>
            <a:br>
              <a:rPr lang="en" sz="150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</a:br>
            <a:endParaRPr sz="1500">
              <a:solidFill>
                <a:srgbClr val="EF6C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7"/>
          <p:cNvSpPr txBox="1"/>
          <p:nvPr>
            <p:ph idx="1" type="body"/>
          </p:nvPr>
        </p:nvSpPr>
        <p:spPr>
          <a:xfrm>
            <a:off x="311700" y="1266175"/>
            <a:ext cx="3999900" cy="33027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5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Obserwacje:</a:t>
            </a:r>
            <a:endParaRPr b="1" sz="1350">
              <a:solidFill>
                <a:srgbClr val="EF6C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3370" lvl="0" marL="45720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wysoka skuteczność rozpoznawania dla większości klas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337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brak poważnych problemów z błędną klasyfikacją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337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pojedyncze pomyłki występują głównie między wizualnie podobnymi logotypami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5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Analiza:</a:t>
            </a:r>
            <a:endParaRPr b="1" sz="1350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3370" lvl="0" marL="45720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model dobrze nauczył się cech charakterystycznych logotypów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337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system poprawnie generalizuje na dane, których wcześniej nie widział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337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ct val="1000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wyniki potwierdzają poprawność zastosowanego podejścia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EF6C00"/>
              </a:solidFill>
            </a:endParaRPr>
          </a:p>
        </p:txBody>
      </p:sp>
      <p:pic>
        <p:nvPicPr>
          <p:cNvPr id="98" name="Google Shape;9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07050" y="1266175"/>
            <a:ext cx="3674910" cy="33027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EF6C00"/>
                </a:solidFill>
              </a:rPr>
              <a:t>Wnioski </a:t>
            </a:r>
            <a:endParaRPr sz="3200">
              <a:solidFill>
                <a:srgbClr val="EF6C00"/>
              </a:solidFill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EF6C00"/>
              </a:solidFill>
            </a:endParaRPr>
          </a:p>
        </p:txBody>
      </p:sp>
      <p:sp>
        <p:nvSpPr>
          <p:cNvPr id="104" name="Google Shape;104;p18"/>
          <p:cNvSpPr txBox="1"/>
          <p:nvPr>
            <p:ph idx="1" type="body"/>
          </p:nvPr>
        </p:nvSpPr>
        <p:spPr>
          <a:xfrm>
            <a:off x="311700" y="1266175"/>
            <a:ext cx="3999900" cy="33027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5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Wnioski:</a:t>
            </a:r>
            <a:endParaRPr b="1" sz="1350">
              <a:solidFill>
                <a:srgbClr val="EF6C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zrealizowany system poprawnie rozpoznaje logotypy marek restauracyjnych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zastosowane podejście oparte na sieciach neuronowych okazało się skuteczne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projekt spełnił założone cele funkcjonalne i jakościowe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rozwiązanie może być wykorzystywane w praktycznych zastosowaniach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EF6C00"/>
              </a:solidFill>
            </a:endParaRPr>
          </a:p>
        </p:txBody>
      </p:sp>
      <p:sp>
        <p:nvSpPr>
          <p:cNvPr id="105" name="Google Shape;105;p18"/>
          <p:cNvSpPr txBox="1"/>
          <p:nvPr>
            <p:ph idx="2" type="body"/>
          </p:nvPr>
        </p:nvSpPr>
        <p:spPr>
          <a:xfrm>
            <a:off x="4832400" y="1266175"/>
            <a:ext cx="3999900" cy="33027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5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Ograniczenia:</a:t>
            </a:r>
            <a:endParaRPr b="1" sz="1350">
              <a:solidFill>
                <a:srgbClr val="EF6C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liczba rozpoznawanych marek jest ograniczona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skuteczność zależy od jakości i różnorodności danych uczących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możliwe pomyłki przy bardzo podobnych logotypach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EF6C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4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" sz="3200">
                <a:solidFill>
                  <a:srgbClr val="EF6C00"/>
                </a:solidFill>
              </a:rPr>
              <a:t>Przyszłość</a:t>
            </a:r>
            <a:endParaRPr sz="3200">
              <a:solidFill>
                <a:srgbClr val="EF6C00"/>
              </a:solidFill>
            </a:endParaRPr>
          </a:p>
        </p:txBody>
      </p:sp>
      <p:sp>
        <p:nvSpPr>
          <p:cNvPr id="111" name="Google Shape;111;p19"/>
          <p:cNvSpPr txBox="1"/>
          <p:nvPr>
            <p:ph idx="1" type="body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5556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50">
                <a:solidFill>
                  <a:srgbClr val="EF6C00"/>
                </a:solidFill>
                <a:latin typeface="Arial"/>
                <a:ea typeface="Arial"/>
                <a:cs typeface="Arial"/>
                <a:sym typeface="Arial"/>
              </a:rPr>
              <a:t>Możliwe kierunki rozwoju:</a:t>
            </a:r>
            <a:endParaRPr b="1" sz="1200">
              <a:solidFill>
                <a:srgbClr val="EF6C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dodanie większej liczby marek i danych treningowych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dalsze dostrajanie parametrów modelu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stworzenie aplikacji mobilnej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/>
              <a:buChar char="●"/>
            </a:pPr>
            <a:r>
              <a:rPr lang="en" sz="1200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zastosowanie systemu w szerszej analizie obrazów</a:t>
            </a:r>
            <a:endParaRPr sz="1200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EF6C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ropic">
  <a:themeElements>
    <a:clrScheme name="Tropic">
      <a:dk1>
        <a:srgbClr val="A1E8D9"/>
      </a:dk1>
      <a:lt1>
        <a:srgbClr val="FFFFFF"/>
      </a:lt1>
      <a:dk2>
        <a:srgbClr val="695D46"/>
      </a:dk2>
      <a:lt2>
        <a:srgbClr val="B3A77D"/>
      </a:lt2>
      <a:accent1>
        <a:srgbClr val="EF6C00"/>
      </a:accent1>
      <a:accent2>
        <a:srgbClr val="CE93D8"/>
      </a:accent2>
      <a:accent3>
        <a:srgbClr val="4DB6AC"/>
      </a:accent3>
      <a:accent4>
        <a:srgbClr val="FF9800"/>
      </a:accent4>
      <a:accent5>
        <a:srgbClr val="009668"/>
      </a:accent5>
      <a:accent6>
        <a:srgbClr val="EEFF41"/>
      </a:accent6>
      <a:hlink>
        <a:srgbClr val="009668"/>
      </a:hlink>
      <a:folHlink>
        <a:srgbClr val="00966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